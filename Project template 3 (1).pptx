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3"/>
    <p:sldId id="16140622" r:id="rId4"/>
    <p:sldId id="262" r:id="rId5"/>
    <p:sldId id="263" r:id="rId6"/>
    <p:sldId id="265" r:id="rId7"/>
    <p:sldId id="266" r:id="rId8"/>
    <p:sldId id="267" r:id="rId9"/>
    <p:sldId id="16140627" r:id="rId10"/>
    <p:sldId id="16140628" r:id="rId11"/>
    <p:sldId id="16140629" r:id="rId12"/>
    <p:sldId id="16140630" r:id="rId14"/>
    <p:sldId id="16140631" r:id="rId15"/>
    <p:sldId id="268" r:id="rId16"/>
    <p:sldId id="16140623" r:id="rId17"/>
    <p:sldId id="269" r:id="rId18"/>
    <p:sldId id="16140626" r:id="rId19"/>
    <p:sldId id="25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customXml" Target="../customXml/item3.xml"/><Relationship Id="rId25" Type="http://schemas.openxmlformats.org/officeDocument/2006/relationships/customXml" Target="../customXml/item2.xml"/><Relationship Id="rId24" Type="http://schemas.openxmlformats.org/officeDocument/2006/relationships/customXml" Target="../customXml/item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70" indent="-30607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2992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99795" indent="-269875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60" indent="-234315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105" indent="-234315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9992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27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9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71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hyperlink" Target="supabase.com&#13;" TargetMode="External"/><Relationship Id="rId3" Type="http://schemas.openxmlformats.org/officeDocument/2006/relationships/hyperlink" Target="tailwindcss.com" TargetMode="External"/><Relationship Id="rId2" Type="http://schemas.openxmlformats.org/officeDocument/2006/relationships/hyperlink" Target="react.dev" TargetMode="External"/><Relationship Id="rId1" Type="http://schemas.openxmlformats.org/officeDocument/2006/relationships/hyperlink" Target="ai.google.dev&#13;" TargetMode="Externa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hyperlink" Target="https://quick-grasp-guide-9l4z74a60-suvasini911s-projects.vercel.app?_vercel_share=kGgygo1ym5IFLj6I3Z3yc0wCWUQDSAGb&#13;" TargetMode="External"/><Relationship Id="rId3" Type="http://schemas.openxmlformats.org/officeDocument/2006/relationships/hyperlink" Target="%20https://quick-grasp-guide-9l4z74a60-suvasini911s-projects.vercel.app/" TargetMode="External"/><Relationship Id="rId2" Type="http://schemas.openxmlformats.org/officeDocument/2006/relationships/hyperlink" Target="https://github.com/Suvasini911/studypla-ai.git&#13;" TargetMode="External"/><Relationship Id="rId1" Type="http://schemas.openxmlformats.org/officeDocument/2006/relationships/hyperlink" Target="https://github.com/Suvasini911/studypla-ai&#13;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title</a:t>
            </a:r>
            <a:endParaRPr lang="en-US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Arial" panose="020B0604020202020204"/>
                <a:cs typeface="Arial" panose="020B0604020202020204"/>
              </a:rPr>
              <a:t>CAPSTONE PROJECT</a:t>
            </a:r>
            <a:endParaRPr lang="en-US" sz="3200" b="1">
              <a:solidFill>
                <a:schemeClr val="accent1">
                  <a:lumMod val="75000"/>
                </a:schemeClr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02196" y="4058588"/>
            <a:ext cx="7980183" cy="13220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Presented By: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/>
                <a:cs typeface="Arial" panose="020B0604020202020204"/>
              </a:rPr>
              <a:t>Student Name-  </a:t>
            </a:r>
            <a:r>
              <a:rPr lang="en-US" alt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/>
                <a:cs typeface="Arial" panose="020B0604020202020204"/>
              </a:rPr>
              <a:t>SUVASINI</a:t>
            </a:r>
            <a:endParaRPr lang="en-US" altLang="en-US" sz="2000" b="1" dirty="0">
              <a:solidFill>
                <a:schemeClr val="accent1">
                  <a:lumMod val="75000"/>
                </a:schemeClr>
              </a:solidFill>
              <a:latin typeface="Arial" panose="020B0604020202020204"/>
              <a:cs typeface="Arial" panose="020B0604020202020204"/>
            </a:endParaRP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/>
                <a:cs typeface="Arial" panose="020B0604020202020204"/>
              </a:rPr>
              <a:t>College Name-  </a:t>
            </a:r>
            <a:r>
              <a:rPr lang="en-US" alt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/>
                <a:cs typeface="Arial" panose="020B0604020202020204"/>
              </a:rPr>
              <a:t>CMR University</a:t>
            </a:r>
            <a:endParaRPr lang="en-US" altLang="en-US" sz="2000" b="1" dirty="0">
              <a:solidFill>
                <a:schemeClr val="accent1">
                  <a:lumMod val="75000"/>
                </a:schemeClr>
              </a:solidFill>
              <a:latin typeface="Arial" panose="020B0604020202020204"/>
              <a:cs typeface="Arial" panose="020B0604020202020204"/>
            </a:endParaRP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/>
                <a:cs typeface="Arial" panose="020B0604020202020204"/>
              </a:rPr>
              <a:t>Department- CSE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  <a:endParaRPr lang="en-US" b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 panose="020B0604020202020204"/>
                <a:ea typeface="+mn-lt"/>
                <a:cs typeface="Arial" panose="020B0604020202020204"/>
              </a:rPr>
              <a:t>  </a:t>
            </a:r>
            <a:endParaRPr lang="en-US" dirty="0">
              <a:latin typeface="Arial" panose="020B0604020202020204"/>
              <a:cs typeface="Arial" panose="020B0604020202020204"/>
            </a:endParaRPr>
          </a:p>
          <a:p>
            <a:r>
              <a:rPr lang="en-US" sz="2000" b="1" dirty="0">
                <a:latin typeface="Arial" panose="020B0604020202020204"/>
                <a:ea typeface="+mn-lt"/>
                <a:cs typeface="Arial" panose="020B0604020202020204"/>
              </a:rPr>
              <a:t>Problem Statement </a:t>
            </a:r>
            <a:r>
              <a:rPr lang="en-US" sz="2000" dirty="0">
                <a:latin typeface="Arial" panose="020B0604020202020204"/>
                <a:ea typeface="+mn-lt"/>
                <a:cs typeface="Arial" panose="020B0604020202020204"/>
              </a:rPr>
              <a:t>(Should not include solution)</a:t>
            </a:r>
            <a:endParaRPr lang="en-US" dirty="0">
              <a:latin typeface="Arial" panose="020B0604020202020204"/>
              <a:cs typeface="Arial" panose="020B0604020202020204"/>
            </a:endParaRPr>
          </a:p>
          <a:p>
            <a:r>
              <a:rPr lang="en-US" sz="2000" b="1" dirty="0">
                <a:latin typeface="Arial" panose="020B0604020202020204"/>
                <a:ea typeface="+mn-lt"/>
                <a:cs typeface="Arial" panose="020B0604020202020204"/>
              </a:rPr>
              <a:t>Proposed System/Solution</a:t>
            </a:r>
            <a:endParaRPr lang="en-US" dirty="0">
              <a:latin typeface="Arial" panose="020B0604020202020204"/>
              <a:cs typeface="Arial" panose="020B0604020202020204"/>
            </a:endParaRPr>
          </a:p>
          <a:p>
            <a:r>
              <a:rPr lang="en-US" sz="2000" b="1" dirty="0">
                <a:latin typeface="Arial" panose="020B0604020202020204"/>
                <a:ea typeface="+mn-lt"/>
                <a:cs typeface="Calibri" panose="020F0502020204030204"/>
              </a:rPr>
              <a:t>System </a:t>
            </a:r>
            <a:r>
              <a:rPr lang="en-US" sz="2000" b="1" dirty="0">
                <a:latin typeface="Arial" panose="020B0604020202020204"/>
                <a:ea typeface="+mn-lt"/>
                <a:cs typeface="+mn-lt"/>
              </a:rPr>
              <a:t>Development Approach </a:t>
            </a:r>
            <a:r>
              <a:rPr lang="en-US" sz="2000" dirty="0">
                <a:latin typeface="Arial" panose="020B0604020202020204"/>
                <a:ea typeface="+mn-lt"/>
                <a:cs typeface="+mn-lt"/>
              </a:rPr>
              <a:t>(Technology Used) </a:t>
            </a:r>
            <a:endParaRPr lang="en-US" dirty="0">
              <a:latin typeface="Arial" panose="020B0604020202020204"/>
              <a:ea typeface="+mn-lt"/>
              <a:cs typeface="+mn-lt"/>
            </a:endParaRPr>
          </a:p>
          <a:p>
            <a:r>
              <a:rPr lang="en-US" sz="2000" b="1" dirty="0">
                <a:latin typeface="Arial" panose="020B0604020202020204"/>
                <a:ea typeface="+mn-lt"/>
                <a:cs typeface="+mn-lt"/>
              </a:rPr>
              <a:t>Algorithm &amp; Deployment  </a:t>
            </a:r>
            <a:endParaRPr lang="en-US" dirty="0">
              <a:latin typeface="Arial" panose="020B0604020202020204"/>
              <a:cs typeface="Calibri" panose="020F0502020204030204"/>
            </a:endParaRPr>
          </a:p>
          <a:p>
            <a:r>
              <a:rPr lang="en-US" sz="2000" b="1" dirty="0">
                <a:latin typeface="Arial" panose="020B0604020202020204"/>
                <a:ea typeface="+mn-lt"/>
                <a:cs typeface="Arial" panose="020B0604020202020204"/>
              </a:rPr>
              <a:t>Result</a:t>
            </a:r>
            <a:endParaRPr lang="en-US" sz="2000" b="1" dirty="0">
              <a:latin typeface="Arial" panose="020B0604020202020204"/>
              <a:ea typeface="+mn-lt"/>
              <a:cs typeface="Arial" panose="020B0604020202020204"/>
            </a:endParaRPr>
          </a:p>
          <a:p>
            <a:r>
              <a:rPr lang="en-US" sz="2000" b="1" dirty="0">
                <a:latin typeface="Arial" panose="020B0604020202020204"/>
                <a:ea typeface="+mn-lt"/>
                <a:cs typeface="Arial" panose="020B0604020202020204"/>
              </a:rPr>
              <a:t>Conclusion</a:t>
            </a:r>
            <a:endParaRPr lang="en-US" dirty="0">
              <a:latin typeface="Arial" panose="020B0604020202020204"/>
              <a:cs typeface="Arial" panose="020B0604020202020204"/>
            </a:endParaRPr>
          </a:p>
          <a:p>
            <a:r>
              <a:rPr lang="en-US" sz="2000" b="1" dirty="0">
                <a:latin typeface="Arial" panose="020B0604020202020204"/>
                <a:ea typeface="+mn-lt"/>
                <a:cs typeface="Arial" panose="020B0604020202020204"/>
              </a:rPr>
              <a:t>Future Scope</a:t>
            </a:r>
            <a:endParaRPr lang="en-US" sz="2000" b="1" dirty="0">
              <a:latin typeface="Arial" panose="020B0604020202020204"/>
              <a:ea typeface="+mn-lt"/>
              <a:cs typeface="Arial" panose="020B0604020202020204"/>
            </a:endParaRPr>
          </a:p>
          <a:p>
            <a:r>
              <a:rPr lang="en-US" sz="2000" b="1" dirty="0">
                <a:latin typeface="Arial" panose="020B0604020202020204"/>
                <a:ea typeface="+mn-lt"/>
                <a:cs typeface="Arial" panose="020B0604020202020204"/>
              </a:rPr>
              <a:t>References</a:t>
            </a:r>
            <a:endParaRPr lang="en-US" dirty="0">
              <a:latin typeface="Arial" panose="020B0604020202020204"/>
              <a:cs typeface="Arial" panose="020B0604020202020204"/>
            </a:endParaRPr>
          </a:p>
          <a:p>
            <a:endParaRPr lang="en-US" dirty="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2403" y="1237632"/>
            <a:ext cx="11029615" cy="46733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.</a:t>
            </a:r>
            <a:endParaRPr lang="en-IN" sz="1400" dirty="0"/>
          </a:p>
        </p:txBody>
      </p:sp>
      <p:sp>
        <p:nvSpPr>
          <p:cNvPr id="3" name="Text Box 2"/>
          <p:cNvSpPr txBox="1"/>
          <p:nvPr/>
        </p:nvSpPr>
        <p:spPr>
          <a:xfrm>
            <a:off x="452755" y="1238250"/>
            <a:ext cx="11307445" cy="5619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en-US"/>
          </a:p>
          <a:p>
            <a:pPr marL="342900" indent="-342900">
              <a:buClr>
                <a:srgbClr val="1CADE4"/>
              </a:buClr>
              <a:buSzPct val="125000"/>
              <a:buFont typeface="Wingdings" panose="05000000000000000000" charset="0"/>
              <a:buChar char="§"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Students often struggle to understand complex academic concepts while studying independently.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Clr>
                <a:srgbClr val="1CADE4"/>
              </a:buClr>
              <a:buSzPct val="125000"/>
              <a:buFont typeface="Wingdings" panose="05000000000000000000" charset="0"/>
              <a:buChar char="§"/>
            </a:pP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Clr>
                <a:srgbClr val="1CADE4"/>
              </a:buClr>
              <a:buSzPct val="125000"/>
              <a:buFont typeface="Wingdings" panose="05000000000000000000" charset="0"/>
              <a:buChar char="§"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Searching online frequently yields lengthy, irrelevant, or overly technical results that don't match the student's level of understanding.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Clr>
                <a:srgbClr val="1CADE4"/>
              </a:buClr>
              <a:buSzPct val="125000"/>
              <a:buFont typeface="Wingdings" panose="05000000000000000000" charset="0"/>
              <a:buChar char="§"/>
            </a:pP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Clr>
                <a:srgbClr val="1CADE4"/>
              </a:buClr>
              <a:buSzPct val="125000"/>
              <a:buFont typeface="Wingdings" panose="05000000000000000000" charset="0"/>
              <a:buChar char="§"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Teachers and tutors are not always available for instant doubt resolution, especially outside classroom hours.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Clr>
                <a:srgbClr val="1CADE4"/>
              </a:buClr>
              <a:buSzPct val="125000"/>
              <a:buFont typeface="Wingdings" panose="05000000000000000000" charset="0"/>
              <a:buChar char="§"/>
            </a:pP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Clr>
                <a:srgbClr val="1CADE4"/>
              </a:buClr>
              <a:buSzPct val="125000"/>
              <a:buFont typeface="Wingdings" panose="05000000000000000000" charset="0"/>
              <a:buChar char="§"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There is no personalized, on-demand tool that can explain topics simply, summarize notes, and generate quizzes or flashcards tailored to each student's needs.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Clr>
                <a:srgbClr val="1CADE4"/>
              </a:buClr>
              <a:buSzPct val="125000"/>
              <a:buFont typeface="Wingdings" panose="05000000000000000000" charset="0"/>
              <a:buChar char="§"/>
            </a:pP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Clr>
                <a:srgbClr val="1CADE4"/>
              </a:buClr>
              <a:buSzPct val="125000"/>
              <a:buFont typeface="Wingdings" panose="05000000000000000000" charset="0"/>
              <a:buChar char="§"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Existing study tools lack AI-driven adaptability, making self-study inefficient and frustrating for many learners.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sz="440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41036" y="468253"/>
            <a:ext cx="11613485" cy="556397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305435" indent="-305435"/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Build an AI-Powered Study Buddy web application that uses large language models (LLMs) to assist students in real-time.</a:t>
            </a: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5435" indent="-305435"/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tool will explain complex topics in simple, student-friendly language with step-by-step breakdowns.</a:t>
            </a: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5435" indent="-305435"/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It will summarize uploaded study notes or pasted text into concise, digestible points.</a:t>
            </a: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5435" indent="-305435"/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On-demand quiz and flashcard generation from any topic or material, enabling active recall and self-assessment.</a:t>
            </a: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5435" indent="-305435"/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chat-based interface that feels natural and interactive, available 24/7 with no waiting time.</a:t>
            </a: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/>
                <a:ea typeface="+mj-lt"/>
                <a:cs typeface="Arial" panose="020B0604020202020204"/>
              </a:rPr>
              <a:t>System  Approach</a:t>
            </a:r>
            <a:endParaRPr lang="en-US" sz="4400">
              <a:solidFill>
                <a:schemeClr val="accent1"/>
              </a:solidFill>
              <a:latin typeface="Calibri Light" panose="020F0302020204030204"/>
              <a:cs typeface="Calibri Light" panose="020F0302020204030204"/>
            </a:endParaRPr>
          </a:p>
        </p:txBody>
      </p:sp>
      <p:sp>
        <p:nvSpPr>
          <p:cNvPr id="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81025" y="1203960"/>
            <a:ext cx="11179810" cy="3753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Frontend: React.js with TypeScript and Tailwind CSS for a responsive, modern UI.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Backend: Supabase Edge Functions (serverless) to handle AI API calls securely.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Model: Google Gemini API for topic explanation, summarization, and quiz generation.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Architecture: Client sends user queries → Edge Function processes with AI → Streams response back to the user in real-time.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Deployment: Frontend deployed on Vercel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    Backend deployed via Supabase Edge Functions.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/>
                <a:ea typeface="+mj-lt"/>
                <a:cs typeface="Arial" panose="020B0604020202020204"/>
              </a:rPr>
              <a:t>Algorithm &amp; Deployment</a:t>
            </a:r>
            <a:endParaRPr lang="en-US"/>
          </a:p>
        </p:txBody>
      </p:sp>
      <p:sp>
        <p:nvSpPr>
          <p:cNvPr id="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81192" y="3315522"/>
            <a:ext cx="3289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81025" y="1299845"/>
            <a:ext cx="10702925" cy="49847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en-US"/>
          </a:p>
          <a:p>
            <a:pPr marL="342900" indent="-342900">
              <a:buClr>
                <a:srgbClr val="1CADE4"/>
              </a:buClr>
              <a:buFont typeface="Wingdings" panose="05000000000000000000" charset="0"/>
              <a:buChar char="§"/>
            </a:pPr>
            <a:r>
              <a:rPr lang="en-US" altLang="en-US" sz="2000" b="1">
                <a:latin typeface="Arial" panose="020B0604020202020204" pitchFamily="34" charset="0"/>
                <a:cs typeface="Arial" panose="020B0604020202020204" pitchFamily="34" charset="0"/>
              </a:rPr>
              <a:t>Input Processing: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User inputs a topic, question, or pastes study notes into the chat interface.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Clr>
                <a:srgbClr val="1CADE4"/>
              </a:buClr>
              <a:buFont typeface="Wingdings" panose="05000000000000000000" charset="0"/>
              <a:buChar char="§"/>
            </a:pP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Clr>
                <a:srgbClr val="1CADE4"/>
              </a:buClr>
              <a:buFont typeface="Wingdings" panose="05000000000000000000" charset="0"/>
              <a:buChar char="§"/>
            </a:pPr>
            <a:r>
              <a:rPr lang="en-US" altLang="en-US" sz="2000" b="1">
                <a:latin typeface="Arial" panose="020B0604020202020204" pitchFamily="34" charset="0"/>
                <a:cs typeface="Arial" panose="020B0604020202020204" pitchFamily="34" charset="0"/>
              </a:rPr>
              <a:t>Prompt Engineering: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The system constructs a context-aware prompt with the appropriate mode (explain, summarize, or quiz).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Clr>
                <a:srgbClr val="1CADE4"/>
              </a:buClr>
              <a:buFont typeface="Wingdings" panose="05000000000000000000" charset="0"/>
              <a:buChar char="§"/>
            </a:pP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Clr>
                <a:srgbClr val="1CADE4"/>
              </a:buClr>
              <a:buFont typeface="Wingdings" panose="05000000000000000000" charset="0"/>
              <a:buChar char="§"/>
            </a:pPr>
            <a:r>
              <a:rPr lang="en-US" altLang="en-US" sz="2000" b="1">
                <a:latin typeface="Arial" panose="020B0604020202020204" pitchFamily="34" charset="0"/>
                <a:cs typeface="Arial" panose="020B0604020202020204" pitchFamily="34" charset="0"/>
              </a:rPr>
              <a:t>AI Inference: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The prompt is sent to Gemini LLM via a secure backend edge function; response is streamed token-by-token.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Clr>
                <a:srgbClr val="1CADE4"/>
              </a:buClr>
              <a:buFont typeface="Wingdings" panose="05000000000000000000" charset="0"/>
              <a:buChar char="§"/>
            </a:pP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Clr>
                <a:srgbClr val="1CADE4"/>
              </a:buClr>
              <a:buFont typeface="Wingdings" panose="05000000000000000000" charset="0"/>
              <a:buChar char="§"/>
            </a:pPr>
            <a:r>
              <a:rPr lang="en-US" altLang="en-US" sz="2000" b="1">
                <a:latin typeface="Arial" panose="020B0604020202020204" pitchFamily="34" charset="0"/>
                <a:cs typeface="Arial" panose="020B0604020202020204" pitchFamily="34" charset="0"/>
              </a:rPr>
              <a:t>Output Rendering: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Markdown-formatted responses are rendered in the chat UI with proper formatting for lists, code, and headings.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Clr>
                <a:srgbClr val="1CADE4"/>
              </a:buClr>
              <a:buFont typeface="Wingdings" panose="05000000000000000000" charset="0"/>
              <a:buChar char="§"/>
            </a:pP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Clr>
                <a:srgbClr val="1CADE4"/>
              </a:buClr>
              <a:buFont typeface="Wingdings" panose="05000000000000000000" charset="0"/>
              <a:buChar char="§"/>
            </a:pPr>
            <a:r>
              <a:rPr lang="en-US" altLang="en-US" sz="2000" b="1">
                <a:latin typeface="Arial" panose="020B0604020202020204" pitchFamily="34" charset="0"/>
                <a:cs typeface="Arial" panose="020B0604020202020204" pitchFamily="34" charset="0"/>
              </a:rPr>
              <a:t>Deployment: 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Frontend deployed on Vercel (auto-build from GitHub)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>
              <a:buClr>
                <a:srgbClr val="1CADE4"/>
              </a:buClr>
              <a:buFont typeface="Wingdings" panose="05000000000000000000" charset="0"/>
              <a:buNone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                           Backend deployed using Supabase Edge Functions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>
              <a:buClr>
                <a:srgbClr val="1CADE4"/>
              </a:buClr>
              <a:buFont typeface="Wingdings" panose="05000000000000000000" charset="0"/>
              <a:buNone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                           AI requests securely handled via serverless functions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/>
                <a:ea typeface="+mj-lt"/>
                <a:cs typeface="Arial" panose="020B0604020202020204"/>
              </a:rPr>
              <a:t>Result</a:t>
            </a:r>
            <a:endParaRPr lang="en-US"/>
          </a:p>
        </p:txBody>
      </p:sp>
      <p:sp>
        <p:nvSpPr>
          <p:cNvPr id="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81025" y="1416685"/>
            <a:ext cx="10556240" cy="4394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Wingdings" panose="05000000000000000000" charset="0"/>
              <a:buChar char="§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 built a functional AI Study Buddy that can explain topics, summarize notes, and generate quizzes on demand.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Wingdings" panose="05000000000000000000" charset="0"/>
              <a:buChar char="§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chat-based interface provides instant, clear, and student-friendly responses powered by Google Gemini AI.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Wingdings" panose="05000000000000000000" charset="0"/>
              <a:buChar char="§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 can interact naturally by typing questions or pasting study material and receiving structured, easy-to-understand answers.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Wingdings" panose="05000000000000000000" charset="0"/>
              <a:buChar char="§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handles multiple modes seamlessly — explanation, summarization, and quiz generation — all within one interface.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Wingdings" panose="05000000000000000000" charset="0"/>
              <a:buChar char="§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streaming ensures fast response delivery without long wait times.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Screenshot 2026-02-20 11230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77850"/>
            <a:ext cx="12192000" cy="58407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Screenshot 2026-02-20 1123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53720"/>
            <a:ext cx="12192000" cy="58432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Screenshot 2026-02-20 1126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78485"/>
            <a:ext cx="12192000" cy="58407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Screenshot 2026-02-20 1126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48640"/>
            <a:ext cx="12192000" cy="58483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Screenshot 2026-02-20 1128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335"/>
            <a:ext cx="12192000" cy="588391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/>
                <a:ea typeface="+mj-lt"/>
                <a:cs typeface="Arial" panose="020B0604020202020204"/>
              </a:rPr>
              <a:t>Conclusion</a:t>
            </a:r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81192" y="1456331"/>
            <a:ext cx="11029615" cy="4673324"/>
          </a:xfrm>
        </p:spPr>
        <p:txBody>
          <a:bodyPr>
            <a:normAutofit/>
          </a:bodyPr>
          <a:lstStyle/>
          <a:p>
            <a:pPr marL="305435" indent="-305435"/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AI-Powered Study Buddy effectively addresses the gap between students' learning needs and the availability of instant, personalized academic help.</a:t>
            </a: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5435" indent="-305435"/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5435" indent="-305435"/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By leveraging modern AI capabilities, the tool makes self-study more efficient, interactive, and accessible for students across all levels.</a:t>
            </a: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5435" indent="-305435"/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5435" indent="-305435"/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project demonstrates how AI and web technologies can be combined to create impactful educational tools with minimal infrastructure overhead.</a:t>
            </a: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5435" indent="-305435"/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5435" indent="-305435"/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It serves as a practical capstone project showcasing full-stack development, AI integration, and user-centric design principles.</a:t>
            </a: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 txBox="1"/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 panose="020B0604020202020204"/>
                <a:cs typeface="Arial" panose="020B0604020202020204"/>
              </a:rPr>
              <a:t>Future scope</a:t>
            </a:r>
            <a:endParaRPr lang="en-US" sz="4400" b="1" dirty="0">
              <a:solidFill>
                <a:schemeClr val="accent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535940" y="1374458"/>
            <a:ext cx="9880600" cy="4369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Wingdings" panose="05000000000000000000" charset="0"/>
              <a:buChar char="§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voice-based interaction so students can ask questions verbally and receive spoken answers.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Wingdings" panose="05000000000000000000" charset="0"/>
              <a:buChar char="§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Wingdings" panose="05000000000000000000" charset="0"/>
              <a:buChar char="§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PDF/document upload for automatic summarization and quiz generation from study materials.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Wingdings" panose="05000000000000000000" charset="0"/>
              <a:buChar char="§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Wingdings" panose="05000000000000000000" charset="0"/>
              <a:buChar char="§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user authentication to save chat history, track progress, and personalize learning paths.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Wingdings" panose="05000000000000000000" charset="0"/>
              <a:buChar char="§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Wingdings" panose="05000000000000000000" charset="0"/>
              <a:buChar char="§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multi-language support to help students study in their preferred language.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Wingdings" panose="05000000000000000000" charset="0"/>
              <a:buChar char="§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CADE4"/>
              </a:buClr>
              <a:buSzTx/>
              <a:buFont typeface="Wingdings" panose="05000000000000000000" charset="0"/>
              <a:buChar char="§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a spaced repetition system using generated flashcards to optimize long-term retention.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/>
                <a:ea typeface="+mj-lt"/>
                <a:cs typeface="Arial" panose="020B0604020202020204"/>
              </a:rPr>
              <a:t>References</a:t>
            </a:r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706120" y="1610995"/>
            <a:ext cx="9575165" cy="3035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Clr>
                <a:srgbClr val="1CADE4"/>
              </a:buClr>
              <a:buFont typeface="Wingdings" panose="05000000000000000000" charset="0"/>
              <a:buChar char="§"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Google Gemini AI – 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  <a:hlinkClick r:id="rId1" tooltip="" action="ppaction://hlinkfile"/>
              </a:rPr>
              <a:t>ai.google.dev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Clr>
                <a:srgbClr val="1CADE4"/>
              </a:buClr>
              <a:buFont typeface="Wingdings" panose="05000000000000000000" charset="0"/>
              <a:buChar char="§"/>
            </a:pP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Clr>
                <a:srgbClr val="1CADE4"/>
              </a:buClr>
              <a:buFont typeface="Wingdings" panose="05000000000000000000" charset="0"/>
              <a:buChar char="§"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React.js – 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  <a:hlinkClick r:id="rId2" tooltip="" action="ppaction://hlinkfile"/>
              </a:rPr>
              <a:t>react.dev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Clr>
                <a:srgbClr val="1CADE4"/>
              </a:buClr>
              <a:buFont typeface="Wingdings" panose="05000000000000000000" charset="0"/>
              <a:buChar char="§"/>
            </a:pP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Clr>
                <a:srgbClr val="1CADE4"/>
              </a:buClr>
              <a:buFont typeface="Wingdings" panose="05000000000000000000" charset="0"/>
              <a:buChar char="§"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Tailwind CSS – 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  <a:hlinkClick r:id="rId3" tooltip="" action="ppaction://hlinkfile"/>
              </a:rPr>
              <a:t>tailwindcss.com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Clr>
                <a:srgbClr val="1CADE4"/>
              </a:buClr>
              <a:buFont typeface="Wingdings" panose="05000000000000000000" charset="0"/>
              <a:buChar char="§"/>
            </a:pP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Clr>
                <a:srgbClr val="1CADE4"/>
              </a:buClr>
              <a:buFont typeface="Wingdings" panose="05000000000000000000" charset="0"/>
              <a:buChar char="§"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Supabase – 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  <a:hlinkClick r:id="rId4" tooltip="" action="ppaction://hlinkfile"/>
              </a:rPr>
              <a:t>supabase.com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link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660" y="1736090"/>
            <a:ext cx="11029315" cy="1556385"/>
          </a:xfrm>
        </p:spPr>
        <p:txBody>
          <a:bodyPr>
            <a:noAutofit/>
          </a:bodyPr>
          <a:lstStyle/>
          <a:p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Link :</a:t>
            </a:r>
            <a:r>
              <a:rPr lang="en-US" altLang="en-IN" sz="2000" dirty="0">
                <a:latin typeface="Arial" panose="020B0604020202020204" pitchFamily="34" charset="0"/>
                <a:cs typeface="Arial" panose="020B0604020202020204" pitchFamily="34" charset="0"/>
                <a:hlinkClick r:id="rId1" tooltip="" action="ppaction://hlinkfile"/>
              </a:rPr>
              <a:t>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hlinkClick r:id="rId2" tooltip="" action="ppaction://hlinkfile"/>
              </a:rPr>
              <a:t>https://github.com/Suvasini911/studypla-ai.git</a:t>
            </a: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Deployment Link:</a:t>
            </a:r>
            <a:r>
              <a:rPr lang="en-US" altLang="en-IN" sz="2000" dirty="0">
                <a:latin typeface="Arial" panose="020B0604020202020204" pitchFamily="34" charset="0"/>
                <a:cs typeface="Arial" panose="020B0604020202020204" pitchFamily="34" charset="0"/>
                <a:hlinkClick r:id="rId3" tooltip="" action="ppaction://hlinkfile"/>
              </a:rPr>
              <a:t>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hlinkClick r:id="rId4" tooltip="" action="ppaction://hlinkfile"/>
              </a:rPr>
              <a:t>https://quick-grasp-guide-9l4z74a60-suvasini911s-projects.vercel.app?_vercel_share=kGgygo1ym5IFLj6I3Z3yc0wCWUQDSAGb</a:t>
            </a: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  <a:hlinkClick r:id="rId4" tooltip="" action="ppaction://hlinkfil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en-US" b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289AE2-D2AE-49D1-AFAC-3A79F6794255}">
  <ds:schemaRefs/>
</ds:datastoreItem>
</file>

<file path=customXml/itemProps2.xml><?xml version="1.0" encoding="utf-8"?>
<ds:datastoreItem xmlns:ds="http://schemas.openxmlformats.org/officeDocument/2006/customXml" ds:itemID="{927BD4C1-B6B1-4715-ABF9-E660A51A4EA0}">
  <ds:schemaRefs/>
</ds:datastoreItem>
</file>

<file path=customXml/itemProps3.xml><?xml version="1.0" encoding="utf-8"?>
<ds:datastoreItem xmlns:ds="http://schemas.openxmlformats.org/officeDocument/2006/customXml" ds:itemID="{6E816721-11E4-4989-8472-AB5A7EC20404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0</TotalTime>
  <Words>4595</Words>
  <Application>WPS Presentation</Application>
  <PresentationFormat>Widescreen</PresentationFormat>
  <Paragraphs>122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2" baseType="lpstr">
      <vt:lpstr>Arial</vt:lpstr>
      <vt:lpstr>SimSun</vt:lpstr>
      <vt:lpstr>Wingdings</vt:lpstr>
      <vt:lpstr>Wingdings 2</vt:lpstr>
      <vt:lpstr>Arial</vt:lpstr>
      <vt:lpstr>Calibri</vt:lpstr>
      <vt:lpstr>Wingdings</vt:lpstr>
      <vt:lpstr>Calibri Light</vt:lpstr>
      <vt:lpstr>Microsoft YaHei</vt:lpstr>
      <vt:lpstr>Arial Unicode MS</vt:lpstr>
      <vt:lpstr>Franklin Gothic Demi</vt:lpstr>
      <vt:lpstr>Franklin Gothic Book</vt:lpstr>
      <vt:lpstr>Calibri</vt:lpstr>
      <vt:lpstr>Calibri Light</vt:lpstr>
      <vt:lpstr>DividendVTI</vt:lpstr>
      <vt:lpstr>Project title</vt:lpstr>
      <vt:lpstr>OUTLINE</vt:lpstr>
      <vt:lpstr>Problem Statement</vt:lpstr>
      <vt:lpstr>Proposed Solution</vt:lpstr>
      <vt:lpstr>System  Approach</vt:lpstr>
      <vt:lpstr>Algorithm &amp; Deployment</vt:lpstr>
      <vt:lpstr>Result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Conclusion</vt:lpstr>
      <vt:lpstr>PowerPoint 演示文稿</vt:lpstr>
      <vt:lpstr>References</vt:lpstr>
      <vt:lpstr>Github link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WPS_1740654400</cp:lastModifiedBy>
  <cp:revision>41</cp:revision>
  <dcterms:created xsi:type="dcterms:W3CDTF">2021-05-26T16:50:00Z</dcterms:created>
  <dcterms:modified xsi:type="dcterms:W3CDTF">2026-02-27T19:45:03Z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  <property fmtid="{D5CDD505-2E9C-101B-9397-08002B2CF9AE}" pid="3" name="ICV">
    <vt:lpwstr>EA8D9EBE7E404A62AB86D93992E5157E_12</vt:lpwstr>
  </property>
  <property fmtid="{D5CDD505-2E9C-101B-9397-08002B2CF9AE}" pid="4" name="KSOProductBuildVer">
    <vt:lpwstr>1033-12.2.0.23196</vt:lpwstr>
  </property>
</Properties>
</file>